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战略方法论总结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核心框架与工具集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融合战略破局、蓝海战略、竞争战略、人才战略核心方法论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十三 | 战略伙伴 | 2026年3月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0" y="3657600"/>
            <a:ext cx="365760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战略方法论体系 | 五大核心模块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371600" cy="320040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战略破局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突破与破圈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920240" y="1097280"/>
            <a:ext cx="1371600" cy="3200400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9" name="Text 7"/>
          <p:cNvSpPr/>
          <p:nvPr/>
        </p:nvSpPr>
        <p:spPr>
          <a:xfrm>
            <a:off x="1920240" y="12801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920240" y="228600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蓝海战略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920240" y="30175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价值创新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83280" y="1097280"/>
            <a:ext cx="1371600" cy="3200400"/>
          </a:xfrm>
          <a:prstGeom prst="rect">
            <a:avLst/>
          </a:prstGeom>
          <a:solidFill>
            <a:srgbClr val="FB8C00"/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0" y="12801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383280" y="228600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竞争战略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83280" y="30175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五力模型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1097280"/>
            <a:ext cx="1371600" cy="3200400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12801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846320" y="228600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战略解码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46320" y="30175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RIDER模型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09360" y="1097280"/>
            <a:ext cx="1371600" cy="320040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12801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309360" y="228600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人才战略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309360" y="30175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3S+3B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572000"/>
            <a:ext cx="8229600" cy="73152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7091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核心逻辑: 环境分析 → 战略制定 → 战略解码 → 执行落地 → 人才保障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战略破局 | 突破与破圈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核心观点: 回归企业赢利增长本质思维 - 复利效应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931920" cy="347472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00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关键概念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</a:rPr>
              <a:t>破局: 从创立期进入成长期的突破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</a:rPr>
              <a:t>破圈: 跨越企业生命周期阶段的跳跃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</a:rPr>
              <a:t>复利效应: 赢利增长的第一性原理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</a:rPr>
              <a:t>耐力比拼: 马拉松而非跨栏比赛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463040"/>
            <a:ext cx="393192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1E88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600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实施路径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37760" y="210312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</a:rPr>
              <a:t>企业产品 → 拳头产品 → 超级产品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</a:rPr>
              <a:t>潜优产品 → 积累核心竞争力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</a:rPr>
              <a:t>优势资本 → 第三飞轮效应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</a:rPr>
              <a:t>纵横一体化 → 生态圈建设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5029200"/>
            <a:ext cx="8229600" cy="548640"/>
          </a:xfrm>
          <a:prstGeom prst="rect">
            <a:avLst/>
          </a:prstGeom>
          <a:solidFill>
            <a:srgbClr val="E3F2FD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51206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金句: 不谋全局者，不足以谋一域；不谋万世者，不足以谋一时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蓝海战略 | 价值创新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核心观点: 从红海竞争转向蓝海创造，开辟无竞争的新市场空间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931920" cy="3200400"/>
          </a:xfrm>
          <a:prstGeom prst="rect">
            <a:avLst/>
          </a:prstGeom>
          <a:solidFill>
            <a:srgbClr val="FFEBEE"/>
          </a:solidFill>
          <a:ln w="25400">
            <a:solidFill>
              <a:srgbClr val="D32F2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00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红海战略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</a:rPr>
              <a:t>已知市场空间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</a:rPr>
              <a:t>竞争激烈，利润薄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</a:rPr>
              <a:t>争夺现有需求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</a:rPr>
              <a:t>战略目标: 战胜竞争对手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463040"/>
            <a:ext cx="3931920" cy="3200400"/>
          </a:xfrm>
          <a:prstGeom prst="rect">
            <a:avLst/>
          </a:prstGeom>
          <a:solidFill>
            <a:srgbClr val="E3F2FD"/>
          </a:solidFill>
          <a:ln w="25400">
            <a:solidFill>
              <a:srgbClr val="1976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600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蓝海战略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937760" y="210312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</a:rPr>
              <a:t>未知市场空间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</a:rPr>
              <a:t>无竞争，高利润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</a:rPr>
              <a:t>创造新需求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</a:rPr>
              <a:t>战略目标: 开辟新市场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4846320"/>
            <a:ext cx="8229600" cy="82296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9834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实施工具: 四步动作框架(删除-减少-提升-创造) + 战略布局坐标图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B8C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竞争战略 | 波特五力模型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核心观点: 产业结构决定竞争规则，五种竞争力量决定产业利润率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886200" y="1828800"/>
            <a:ext cx="1371600" cy="914400"/>
          </a:xfrm>
          <a:prstGeom prst="ellipse">
            <a:avLst/>
          </a:prstGeom>
          <a:solidFill>
            <a:srgbClr val="FB8C00"/>
          </a:solidFill>
          <a:ln/>
        </p:spPr>
      </p:sp>
      <p:sp>
        <p:nvSpPr>
          <p:cNvPr id="6" name="Text 4"/>
          <p:cNvSpPr/>
          <p:nvPr/>
        </p:nvSpPr>
        <p:spPr>
          <a:xfrm>
            <a:off x="3886200" y="21031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现有竞争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0" y="1097280"/>
            <a:ext cx="1828800" cy="548640"/>
          </a:xfrm>
          <a:prstGeom prst="rect">
            <a:avLst/>
          </a:prstGeom>
          <a:solidFill>
            <a:srgbClr val="FFA726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0" y="1234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潜在进入者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0" y="2926080"/>
            <a:ext cx="1828800" cy="548640"/>
          </a:xfrm>
          <a:prstGeom prst="rect">
            <a:avLst/>
          </a:prstGeom>
          <a:solidFill>
            <a:srgbClr val="FFA726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0" y="3063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替代品威胁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828800" y="2011680"/>
            <a:ext cx="1645920" cy="548640"/>
          </a:xfrm>
          <a:prstGeom prst="rect">
            <a:avLst/>
          </a:prstGeom>
          <a:solidFill>
            <a:srgbClr val="FFA726"/>
          </a:solidFill>
          <a:ln/>
        </p:spPr>
      </p:sp>
      <p:sp>
        <p:nvSpPr>
          <p:cNvPr id="12" name="Text 10"/>
          <p:cNvSpPr/>
          <p:nvPr/>
        </p:nvSpPr>
        <p:spPr>
          <a:xfrm>
            <a:off x="1828800" y="21488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供应商侃价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0" y="2011680"/>
            <a:ext cx="1645920" cy="548640"/>
          </a:xfrm>
          <a:prstGeom prst="rect">
            <a:avLst/>
          </a:prstGeom>
          <a:solidFill>
            <a:srgbClr val="FFA726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0" y="21488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买方侃价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840480"/>
            <a:ext cx="8229600" cy="164592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9776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波特三大通用战略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42976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8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成本领先战略 | 差异化战略 | 集中化战略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" y="46634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例: 福特T型车(成本) | 喜茶/爱马仕(差异) | 航天硬盘(集中)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战略解码 | RIDER模型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核心观点: 化战略为行动，变愿景为现实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463040" cy="2560320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73736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调查分析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920240" y="2834640"/>
            <a:ext cx="640080" cy="0"/>
          </a:xfrm>
          <a:prstGeom prst="line">
            <a:avLst/>
          </a:prstGeom>
          <a:noFill/>
          <a:ln w="254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94560" y="27432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103120" y="1554480"/>
            <a:ext cx="1463040" cy="2560320"/>
          </a:xfrm>
          <a:prstGeom prst="rect">
            <a:avLst/>
          </a:prstGeom>
          <a:solidFill>
            <a:srgbClr val="8E24AA"/>
          </a:solidFill>
          <a:ln/>
        </p:spPr>
      </p:sp>
      <p:sp>
        <p:nvSpPr>
          <p:cNvPr id="12" name="Text 10"/>
          <p:cNvSpPr/>
          <p:nvPr/>
        </p:nvSpPr>
        <p:spPr>
          <a:xfrm>
            <a:off x="2103120" y="173736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103120" y="23774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03120" y="28346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识别战略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566160" y="2834640"/>
            <a:ext cx="640080" cy="0"/>
          </a:xfrm>
          <a:prstGeom prst="line">
            <a:avLst/>
          </a:prstGeom>
          <a:noFill/>
          <a:ln w="25400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0" y="27432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749040" y="1554480"/>
            <a:ext cx="1463040" cy="2560320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18" name="Text 16"/>
          <p:cNvSpPr/>
          <p:nvPr/>
        </p:nvSpPr>
        <p:spPr>
          <a:xfrm>
            <a:off x="3749040" y="173736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3749040" y="23774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749040" y="28346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战略决策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212080" y="2834640"/>
            <a:ext cx="640080" cy="0"/>
          </a:xfrm>
          <a:prstGeom prst="line">
            <a:avLst/>
          </a:prstGeom>
          <a:noFill/>
          <a:ln w="25400">
            <a:solidFill>
              <a:srgbClr val="E0E0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0" y="27432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394960" y="1554480"/>
            <a:ext cx="1463040" cy="2560320"/>
          </a:xfrm>
          <a:prstGeom prst="rect">
            <a:avLst/>
          </a:prstGeom>
          <a:solidFill>
            <a:srgbClr val="AB47BC"/>
          </a:solidFill>
          <a:ln/>
        </p:spPr>
      </p:sp>
      <p:sp>
        <p:nvSpPr>
          <p:cNvPr id="24" name="Text 22"/>
          <p:cNvSpPr/>
          <p:nvPr/>
        </p:nvSpPr>
        <p:spPr>
          <a:xfrm>
            <a:off x="5394960" y="173736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5394960" y="23774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94960" y="28346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执行跟踪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858000" y="2834640"/>
            <a:ext cx="640080" cy="0"/>
          </a:xfrm>
          <a:prstGeom prst="line">
            <a:avLst/>
          </a:prstGeom>
          <a:noFill/>
          <a:ln w="25400">
            <a:solidFill>
              <a:srgbClr val="E0E0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32320" y="27432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040880" y="1554480"/>
            <a:ext cx="1463040" cy="2560320"/>
          </a:xfrm>
          <a:prstGeom prst="rect">
            <a:avLst/>
          </a:prstGeom>
          <a:solidFill>
            <a:srgbClr val="BA68C8"/>
          </a:solidFill>
          <a:ln/>
        </p:spPr>
      </p:sp>
      <p:sp>
        <p:nvSpPr>
          <p:cNvPr id="30" name="Text 28"/>
          <p:cNvSpPr/>
          <p:nvPr/>
        </p:nvSpPr>
        <p:spPr>
          <a:xfrm>
            <a:off x="7040880" y="173736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7040880" y="23774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040880" y="28346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评估更新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4389120"/>
            <a:ext cx="8229600" cy="73152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45262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三场会议: 战略澄清会 → 战略解码会 → 个人绩效合约PK会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人才战略 | 3S+3B+721法则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核心观点: 政治路线确定之后，干部就是决定的因素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931920" cy="2011680"/>
          </a:xfrm>
          <a:prstGeom prst="rect">
            <a:avLst/>
          </a:prstGeom>
          <a:solidFill>
            <a:srgbClr val="FFEBEE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00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组织保障 3S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</a:rPr>
              <a:t>Culture: 组织文化支撑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</a:rPr>
              <a:t>Capability: 组织能力支撑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</a:rPr>
              <a:t>Information: 信息系统支撑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463040"/>
            <a:ext cx="3931920" cy="2011680"/>
          </a:xfrm>
          <a:prstGeom prst="rect">
            <a:avLst/>
          </a:prstGeom>
          <a:solidFill>
            <a:srgbClr val="E3F2FD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600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人才获取 3B策略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37760" y="210312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</a:rPr>
              <a:t>Buy: 外部招聘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</a:rPr>
              <a:t>Build: 内部培养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</a:rPr>
              <a:t>Borrow: 借用外脑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657600"/>
            <a:ext cx="8229600" cy="146304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7947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人才培养 721法则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42062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 项目历练 + 20% 辅导沟通 + 10% 课堂学习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" y="46634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造血胜于输血: 长期来看，组织能力的形成还是要靠内部人才培养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整合框架 | 从战略制定到执行落地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371600"/>
            <a:ext cx="7315200" cy="64008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463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第一层: 环境分析(五力模型 + 蓝海/红海判断)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2194560"/>
            <a:ext cx="7315200" cy="640080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第二层: 战略制定(破局/破圈 + 蓝海创造 + 三大通用战略选择)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3017520"/>
            <a:ext cx="7315200" cy="640080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108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第三层: 战略解码(RIDER模型 + 三场会议 + 硬仗打法)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14400" y="3840480"/>
            <a:ext cx="7315200" cy="64008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931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第四层: 人才保障(3S支撑 + 3B策略 + 721培养)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114800" y="20116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A4A4A"/>
                </a:solidFill>
              </a:rPr>
              <a:t>↓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114800" y="28346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A4A4A"/>
                </a:solidFill>
              </a:rPr>
              <a:t>↓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114800" y="3657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A4A4A"/>
                </a:solidFill>
              </a:rPr>
              <a:t>↓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应用场景 | 企业生命周期与战略选择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463040" cy="320040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5544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创立期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破局战略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463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产品定位/建立生存根基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920240" y="2971800"/>
            <a:ext cx="640080" cy="0"/>
          </a:xfrm>
          <a:prstGeom prst="line">
            <a:avLst/>
          </a:prstGeom>
          <a:noFill/>
          <a:ln w="254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94560" y="28803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103120" y="1371600"/>
            <a:ext cx="1463040" cy="3200400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11" name="Text 9"/>
          <p:cNvSpPr/>
          <p:nvPr/>
        </p:nvSpPr>
        <p:spPr>
          <a:xfrm>
            <a:off x="2103120" y="15544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成长期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103120" y="21031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破圈战略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103120" y="2743200"/>
            <a:ext cx="1463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拳头产品/市场扩张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566160" y="2971800"/>
            <a:ext cx="640080" cy="0"/>
          </a:xfrm>
          <a:prstGeom prst="line">
            <a:avLst/>
          </a:prstGeom>
          <a:noFill/>
          <a:ln w="2540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0" y="28803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749040" y="1371600"/>
            <a:ext cx="1463040" cy="3200400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17" name="Text 15"/>
          <p:cNvSpPr/>
          <p:nvPr/>
        </p:nvSpPr>
        <p:spPr>
          <a:xfrm>
            <a:off x="3749040" y="15544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扩张期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749040" y="21031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蓝海战略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749040" y="2743200"/>
            <a:ext cx="1463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超级产品/生态布局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212080" y="2971800"/>
            <a:ext cx="640080" cy="0"/>
          </a:xfrm>
          <a:prstGeom prst="line">
            <a:avLst/>
          </a:prstGeom>
          <a:noFill/>
          <a:ln w="25400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0" y="28803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394960" y="1371600"/>
            <a:ext cx="1463040" cy="3200400"/>
          </a:xfrm>
          <a:prstGeom prst="rect">
            <a:avLst/>
          </a:prstGeom>
          <a:solidFill>
            <a:srgbClr val="FB8C00"/>
          </a:solidFill>
          <a:ln/>
        </p:spPr>
      </p:sp>
      <p:sp>
        <p:nvSpPr>
          <p:cNvPr id="23" name="Text 21"/>
          <p:cNvSpPr/>
          <p:nvPr/>
        </p:nvSpPr>
        <p:spPr>
          <a:xfrm>
            <a:off x="5394960" y="15544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成熟期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94960" y="21031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竞争战略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94960" y="2743200"/>
            <a:ext cx="1463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效率提升/成本优化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858000" y="2971800"/>
            <a:ext cx="640080" cy="0"/>
          </a:xfrm>
          <a:prstGeom prst="line">
            <a:avLst/>
          </a:prstGeom>
          <a:noFill/>
          <a:ln w="25400">
            <a:solidFill>
              <a:srgbClr val="E0E0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0" y="28803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040880" y="1371600"/>
            <a:ext cx="1463040" cy="320040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29" name="Text 27"/>
          <p:cNvSpPr/>
          <p:nvPr/>
        </p:nvSpPr>
        <p:spPr>
          <a:xfrm>
            <a:off x="7040880" y="15544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重塑期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040880" y="21031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重塑战略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040880" y="2743200"/>
            <a:ext cx="1463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第二曲线/转型升级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4846320"/>
            <a:ext cx="8229600" cy="64008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49377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战略调色板: 经典型 | 适应型 | 愿景型 | 塑造型 | 重塑型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总结 | 战略方法论核心要点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737360"/>
            <a:ext cx="7315200" cy="2926080"/>
          </a:xfrm>
          <a:prstGeom prst="rect">
            <a:avLst/>
          </a:prstGeom>
          <a:solidFill>
            <a:srgbClr val="FFFFFF">
              <a:alpha val="90000"/>
            </a:srgbClr>
          </a:solidFill>
          <a:ln w="25400">
            <a:solidFill>
              <a:srgbClr val="C9A2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920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系统思维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200400" y="19202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企业是复杂系统，需整体视角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88720" y="25603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动态调整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0" y="2560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战略是手艺，需持续优化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3200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价值创造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00400" y="3200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从红海转向蓝海，开辟新空间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38404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执行落地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200400" y="38404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化战略为行动，变愿景为现实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828800" y="4846320"/>
            <a:ext cx="548640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法有定论，兵无常形 —— 掌握方法，因势利导，灵活运用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战略方法论总结 | 核心框架与工具集</dc:title>
  <dc:subject>PptxGenJS Presentation</dc:subject>
  <dc:creator>Thirteen</dc:creator>
  <cp:lastModifiedBy>Thirteen</cp:lastModifiedBy>
  <cp:revision>1</cp:revision>
  <dcterms:created xsi:type="dcterms:W3CDTF">2026-03-26T12:16:21Z</dcterms:created>
  <dcterms:modified xsi:type="dcterms:W3CDTF">2026-03-26T12:16:21Z</dcterms:modified>
</cp:coreProperties>
</file>